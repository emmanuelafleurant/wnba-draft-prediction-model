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58" r:id="rId7"/>
    <p:sldId id="286" r:id="rId8"/>
    <p:sldId id="296" r:id="rId9"/>
    <p:sldId id="297" r:id="rId10"/>
    <p:sldId id="288" r:id="rId11"/>
    <p:sldId id="289" r:id="rId12"/>
    <p:sldId id="290" r:id="rId13"/>
    <p:sldId id="291" r:id="rId14"/>
    <p:sldId id="309" r:id="rId15"/>
    <p:sldId id="310" r:id="rId16"/>
    <p:sldId id="292" r:id="rId17"/>
    <p:sldId id="280" r:id="rId18"/>
    <p:sldId id="295" r:id="rId19"/>
    <p:sldId id="298" r:id="rId20"/>
    <p:sldId id="299" r:id="rId21"/>
    <p:sldId id="304" r:id="rId22"/>
    <p:sldId id="303" r:id="rId23"/>
    <p:sldId id="300" r:id="rId24"/>
    <p:sldId id="302" r:id="rId25"/>
    <p:sldId id="301" r:id="rId26"/>
    <p:sldId id="305" r:id="rId27"/>
    <p:sldId id="308" r:id="rId28"/>
    <p:sldId id="307" r:id="rId29"/>
    <p:sldId id="306" r:id="rId30"/>
    <p:sldId id="294" r:id="rId31"/>
    <p:sldId id="27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D986-7859-EAB1-2BA7-85DE69BB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5A2CB-FF96-CCD2-935B-4C357660D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13453-2295-825E-8AD2-B675BFD9F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80443-49DA-7700-39FE-C81D1DA6F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62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81F09-C587-7C21-B14F-6C648AF2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AAC36-5C40-FB16-4E2C-09B781B99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BAC57-075A-2BF6-BCF2-D5A86F099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7D98F-9FBD-6DC2-458E-C2F4B0DA2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083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2AF75-DD6B-0221-577A-E253258B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1949F-B864-524C-F66E-03DC0BBFF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B14E8-7811-E2ED-96B2-7A4356F23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FCA62-6EB7-199A-B3A2-85AC3D3E7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19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3831C-14FA-B0C8-2AEA-DE3F8436B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2EFD0-5AD5-5D2D-D2FA-F9181A1B2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891EF-EB8D-8646-518E-7291F8BF7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B31EB-78E7-EE15-D349-3088C2A50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3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020FC-DC31-1D77-BBD5-0C385375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243A3-522E-D6A5-52BB-D6874904E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BA37A-A473-89E3-890A-17CEBFDF0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3F1A9-BA4A-3E2B-2165-F242196AE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917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AB208-1FA3-C151-E17E-2CF6AA35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4BE32-6BE0-3C98-A644-203ABAD1E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6CD62-5285-7DC4-E107-967413425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2D15F-56CC-9AA4-26E3-E1E94AF48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026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3D55-3DB7-7CF6-B20E-CFF1D64D0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41FBE-8A86-93BE-370A-822174548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212D8-95B6-4B46-6C6C-A56D9DD45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AC16B-2CBC-1FDB-DDF0-013E7EC56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720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0477-8DDF-5B6E-248F-0690D48C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637F1-B653-FB77-9EDC-D5924FB65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B2145-E9A2-090D-7D45-B27FFE3C6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670D6-80E0-14EA-5948-44ED5409F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245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7746-E6CD-D247-2DA9-A1C4F9C7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61DA2-4B74-7DE4-ED3A-1808C5830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0A03D-4692-4B38-F25E-22E82CCFE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86F75-263B-7E06-CF7E-91A2F43A9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899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58042-A952-EE6C-9904-5C742BBA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5CF5F-7887-7050-65D2-B995A0DB8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96177-58C9-0D4D-1EE8-81201484A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CF7CC-CEB2-035F-830E-0748BF50D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785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8B11F-8863-AA9E-FA08-CFFB31DCE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F59AB-0D99-5EE6-A433-30DF45F04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34CEF-ADA5-C72C-62ED-EEC41BBBE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C91E6-0F65-F545-8D57-F4579D8F9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45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WNBA Draft prediction model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-37491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40" y="1135723"/>
            <a:ext cx="3736340" cy="5403188"/>
          </a:xfrm>
        </p:spPr>
        <p:txBody>
          <a:bodyPr>
            <a:normAutofit/>
          </a:bodyPr>
          <a:lstStyle/>
          <a:p>
            <a:r>
              <a:rPr lang="en-US" dirty="0"/>
              <a:t>Motivation/Problem</a:t>
            </a:r>
          </a:p>
          <a:p>
            <a:r>
              <a:rPr lang="en-US" dirty="0"/>
              <a:t>Business Aspect</a:t>
            </a:r>
          </a:p>
          <a:p>
            <a:r>
              <a:rPr lang="en-US" dirty="0"/>
              <a:t>Column Descriptions</a:t>
            </a:r>
          </a:p>
          <a:p>
            <a:r>
              <a:rPr lang="en-US" dirty="0"/>
              <a:t>Missing Data</a:t>
            </a:r>
          </a:p>
          <a:p>
            <a:r>
              <a:rPr lang="en-US" dirty="0"/>
              <a:t>Key Features/Feature Engineering</a:t>
            </a:r>
          </a:p>
          <a:p>
            <a:r>
              <a:rPr lang="en-US" dirty="0"/>
              <a:t>Correlation/Outliers</a:t>
            </a:r>
          </a:p>
          <a:p>
            <a:r>
              <a:rPr lang="en-US" dirty="0"/>
              <a:t>Other Model Evaluations</a:t>
            </a:r>
          </a:p>
          <a:p>
            <a:r>
              <a:rPr lang="en-US" dirty="0"/>
              <a:t>Final List</a:t>
            </a:r>
          </a:p>
          <a:p>
            <a:r>
              <a:rPr lang="en-US" dirty="0"/>
              <a:t>Comparison of each Player</a:t>
            </a:r>
          </a:p>
          <a:p>
            <a:r>
              <a:rPr lang="en-US" dirty="0"/>
              <a:t>Complications/Resolutions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998" y="995680"/>
            <a:ext cx="4296162" cy="540417"/>
          </a:xfrm>
        </p:spPr>
        <p:txBody>
          <a:bodyPr/>
          <a:lstStyle/>
          <a:p>
            <a:r>
              <a:rPr lang="en-US" dirty="0"/>
              <a:t>Motivation/Problem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92409" y="2073268"/>
            <a:ext cx="7288212" cy="340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WNBA receives significantly less media coverage and attention than the NBA, limiting its visibility and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prospects often lack early-career exposure, reducing fan excitement around the draft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Outside factors in the drafting process (team needs and GM evaluations) create unpredictability in draft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lack of WNBA specific metrics makes accurate draft predictions more difficult 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47ECE-318C-1599-4986-0E6BCEC2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67B6-A868-1717-429C-3942998C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049" y="1158240"/>
            <a:ext cx="3645922" cy="591217"/>
          </a:xfrm>
        </p:spPr>
        <p:txBody>
          <a:bodyPr/>
          <a:lstStyle/>
          <a:p>
            <a:r>
              <a:rPr lang="en-US" dirty="0"/>
              <a:t>Business Aspect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17839-2691-93B4-7E1F-51B0DF118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99904" y="2292709"/>
            <a:ext cx="7288212" cy="340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WNBA Draft Prediction Model can increase league revenue by boosting fan engagement and media 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Enhanced visibility for lesser-known prospects can open new opportunities for more sponsors and marketing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media and WNBA itself can use prediction insights to create content and boost excitement for the draft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 owners, sponsors, and fans benefit from improved storylines around draft outcomes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1082308-6F65-ECCD-1408-3D8D89D0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061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E893D-B800-5248-8DB0-5B35DD104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7610-8DD4-C2B2-A5CE-C0DC4A2E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68" y="250323"/>
            <a:ext cx="7288282" cy="674237"/>
          </a:xfrm>
        </p:spPr>
        <p:txBody>
          <a:bodyPr>
            <a:normAutofit/>
          </a:bodyPr>
          <a:lstStyle/>
          <a:p>
            <a:r>
              <a:rPr lang="en-US" sz="3600" dirty="0"/>
              <a:t>Column Descriptions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EA0628-DF4A-C6EE-2726-F45EC023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4D8FB6E-9C5E-AFF1-6EDA-126A790CE8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02086481"/>
              </p:ext>
            </p:extLst>
          </p:nvPr>
        </p:nvGraphicFramePr>
        <p:xfrm>
          <a:off x="304742" y="1085599"/>
          <a:ext cx="11582516" cy="55931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5169">
                  <a:extLst>
                    <a:ext uri="{9D8B030D-6E8A-4147-A177-3AD203B41FA5}">
                      <a16:colId xmlns:a16="http://schemas.microsoft.com/office/drawing/2014/main" val="1833800399"/>
                    </a:ext>
                  </a:extLst>
                </a:gridCol>
                <a:gridCol w="1507957">
                  <a:extLst>
                    <a:ext uri="{9D8B030D-6E8A-4147-A177-3AD203B41FA5}">
                      <a16:colId xmlns:a16="http://schemas.microsoft.com/office/drawing/2014/main" val="2567385280"/>
                    </a:ext>
                  </a:extLst>
                </a:gridCol>
                <a:gridCol w="1540043">
                  <a:extLst>
                    <a:ext uri="{9D8B030D-6E8A-4147-A177-3AD203B41FA5}">
                      <a16:colId xmlns:a16="http://schemas.microsoft.com/office/drawing/2014/main" val="942778098"/>
                    </a:ext>
                  </a:extLst>
                </a:gridCol>
                <a:gridCol w="6609347">
                  <a:extLst>
                    <a:ext uri="{9D8B030D-6E8A-4147-A177-3AD203B41FA5}">
                      <a16:colId xmlns:a16="http://schemas.microsoft.com/office/drawing/2014/main" val="2657004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354149"/>
                  </a:ext>
                </a:extLst>
              </a:tr>
              <a:tr h="401438">
                <a:tc>
                  <a:txBody>
                    <a:bodyPr/>
                    <a:lstStyle/>
                    <a:p>
                      <a:r>
                        <a:rPr lang="en-US" dirty="0" err="1"/>
                        <a:t>overall_pick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wnbadraft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sequence in which the athletes are selected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00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wnbadraft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draft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95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wnbadraft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team the player is being drafted into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251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Player’s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81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college/former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College indicates US player and Former; international player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116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position the player plays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68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height of player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3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years_played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wnbadraft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Career length after draft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47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number of games played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53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minutes_played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amount of time a player is on the court per game/season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119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amount of points a player averaged a season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323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total_rebounds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amount of rebounds the player averaged a season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90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win_shares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player's contribution to the team’s win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239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win_shares_40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player’s contribution to the team’s win in a 40-minute game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12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907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D752-97BA-0145-C21D-993EFA41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0D86F-2C0C-979B-53C8-86DDABA1C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68" y="247651"/>
            <a:ext cx="7288282" cy="626109"/>
          </a:xfrm>
        </p:spPr>
        <p:txBody>
          <a:bodyPr>
            <a:normAutofit/>
          </a:bodyPr>
          <a:lstStyle/>
          <a:p>
            <a:r>
              <a:rPr lang="en-US" sz="3200" dirty="0"/>
              <a:t>Column Descriptions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C05E4D4-7493-0539-51AC-D4AA51E9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1EA170B-5FD5-4BD4-2F9E-EC4B261ADA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99587138"/>
              </p:ext>
            </p:extLst>
          </p:nvPr>
        </p:nvGraphicFramePr>
        <p:xfrm>
          <a:off x="147704" y="996314"/>
          <a:ext cx="11723454" cy="5725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1917">
                  <a:extLst>
                    <a:ext uri="{9D8B030D-6E8A-4147-A177-3AD203B41FA5}">
                      <a16:colId xmlns:a16="http://schemas.microsoft.com/office/drawing/2014/main" val="1833800399"/>
                    </a:ext>
                  </a:extLst>
                </a:gridCol>
                <a:gridCol w="2192435">
                  <a:extLst>
                    <a:ext uri="{9D8B030D-6E8A-4147-A177-3AD203B41FA5}">
                      <a16:colId xmlns:a16="http://schemas.microsoft.com/office/drawing/2014/main" val="2567385280"/>
                    </a:ext>
                  </a:extLst>
                </a:gridCol>
                <a:gridCol w="1274672">
                  <a:extLst>
                    <a:ext uri="{9D8B030D-6E8A-4147-A177-3AD203B41FA5}">
                      <a16:colId xmlns:a16="http://schemas.microsoft.com/office/drawing/2014/main" val="942778098"/>
                    </a:ext>
                  </a:extLst>
                </a:gridCol>
                <a:gridCol w="6084430">
                  <a:extLst>
                    <a:ext uri="{9D8B030D-6E8A-4147-A177-3AD203B41FA5}">
                      <a16:colId xmlns:a16="http://schemas.microsoft.com/office/drawing/2014/main" val="2657004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35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assists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pass that leads to a point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00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spg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amount of steals the player is averaging per game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95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bpg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amount of blocks the player is averaging per game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251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fg</a:t>
                      </a:r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player's shooting accuracy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817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3-fg%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player’s accuracy on the 3-point line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116322"/>
                  </a:ext>
                </a:extLst>
              </a:tr>
              <a:tr h="364224">
                <a:tc>
                  <a:txBody>
                    <a:bodyPr/>
                    <a:lstStyle/>
                    <a:p>
                      <a:r>
                        <a:rPr lang="en-US" dirty="0"/>
                        <a:t>ft%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player’s rate of making a free throw from the foul line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68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birth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college_prospects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year the player was born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3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college_prospects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number of turnovers the player is averaging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47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college_prospects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player’s efficiency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53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box_efficiency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college_prospects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player’s box plus/minus (contribution to the team per 100 possessions)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119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national champion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college_prospects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player won a National Championship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323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overall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college_prospects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player’s award points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90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team_win</a:t>
                      </a:r>
                      <a:r>
                        <a:rPr lang="en-US" dirty="0"/>
                        <a:t>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college_prospects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team’s win score (calculated by games won and games played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239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71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37958-DA60-CD99-89C6-61FC01FF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1BA8-5DDF-5861-ADF3-DB40B04F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76" y="641683"/>
            <a:ext cx="2650242" cy="499777"/>
          </a:xfrm>
        </p:spPr>
        <p:txBody>
          <a:bodyPr>
            <a:normAutofit fontScale="90000"/>
          </a:bodyPr>
          <a:lstStyle/>
          <a:p>
            <a:r>
              <a:rPr lang="en-US" dirty="0"/>
              <a:t>Missing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56955-9DC3-ABEF-3274-45AF032B3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5564" y="1141460"/>
            <a:ext cx="8387265" cy="511496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any performance stats were missing (games, assists) = filled with a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any shooting stats were missing (</a:t>
            </a:r>
            <a:r>
              <a:rPr lang="en-US" dirty="0" err="1"/>
              <a:t>fg</a:t>
            </a:r>
            <a:r>
              <a:rPr lang="en-US" dirty="0"/>
              <a:t>%, 3-fg%) = filled with a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any biographical columns were missing</a:t>
            </a:r>
          </a:p>
          <a:p>
            <a:pPr marL="569214" lvl="1"/>
            <a:r>
              <a:rPr lang="en-US" b="1" dirty="0"/>
              <a:t>Object </a:t>
            </a:r>
            <a:r>
              <a:rPr lang="en-US" b="1" dirty="0" err="1"/>
              <a:t>dtype</a:t>
            </a:r>
            <a:r>
              <a:rPr lang="en-US" b="1" dirty="0"/>
              <a:t> (position) = filled with mode</a:t>
            </a:r>
          </a:p>
          <a:p>
            <a:pPr marL="569214" lvl="1"/>
            <a:r>
              <a:rPr lang="en-US" b="1" dirty="0"/>
              <a:t>Numeric (height) = filled with median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Categorical columns &lt;5% missing = mode unless 5-20% = Missing, if &gt;20% = skip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 columns are preserved because nulls or zeroes carry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0’s are important because:</a:t>
            </a:r>
          </a:p>
          <a:p>
            <a:pPr marL="569214" lvl="1"/>
            <a:r>
              <a:rPr lang="en-US" b="1" dirty="0"/>
              <a:t>The data never occurred (player never played in a pro game)</a:t>
            </a:r>
          </a:p>
          <a:p>
            <a:pPr marL="569214" lvl="1"/>
            <a:r>
              <a:rPr lang="en-US" b="1" dirty="0"/>
              <a:t>Consistency with shooting stats (player had no attempts = 0%)</a:t>
            </a:r>
          </a:p>
          <a:p>
            <a:pPr marL="569214" lvl="1"/>
            <a:r>
              <a:rPr lang="en-US" b="1" dirty="0"/>
              <a:t>Model signals (no pro experience doesn’t mean fill it with the median)</a:t>
            </a:r>
          </a:p>
          <a:p>
            <a:pPr lvl="1" indent="0">
              <a:buNone/>
            </a:pPr>
            <a:endParaRPr lang="en-US" b="1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10226B6-AD2F-4CB2-55F1-04B726E6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6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214AF-1DFE-D502-F9B8-0460E4EF8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198A4-DEE4-E806-8D3F-B9F32F19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5695" y="0"/>
            <a:ext cx="6588034" cy="784257"/>
          </a:xfrm>
        </p:spPr>
        <p:txBody>
          <a:bodyPr>
            <a:normAutofit fontScale="90000"/>
          </a:bodyPr>
          <a:lstStyle/>
          <a:p>
            <a:r>
              <a:rPr lang="en-US" dirty="0"/>
              <a:t>Key Features/Feature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00B87-87A3-5666-C743-B31648C58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3377" y="784257"/>
            <a:ext cx="3927525" cy="5625266"/>
          </a:xfrm>
        </p:spPr>
        <p:txBody>
          <a:bodyPr>
            <a:normAutofit/>
          </a:bodyPr>
          <a:lstStyle/>
          <a:p>
            <a:r>
              <a:rPr lang="en-US" dirty="0"/>
              <a:t>Key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total_rebounds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win_shares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CCE8CCC-5611-32F4-3F18-97E479477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017EC1-5027-89E4-E17F-98A7D6F9CD60}"/>
              </a:ext>
            </a:extLst>
          </p:cNvPr>
          <p:cNvSpPr txBox="1"/>
          <p:nvPr/>
        </p:nvSpPr>
        <p:spPr>
          <a:xfrm>
            <a:off x="666922" y="784257"/>
            <a:ext cx="751455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Feature Engineering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award_points</a:t>
            </a:r>
            <a:r>
              <a:rPr lang="en-US" b="1" dirty="0"/>
              <a:t>: Numeric score from awards/honors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college_points:Numeric</a:t>
            </a:r>
            <a:r>
              <a:rPr lang="en-US" b="1" dirty="0"/>
              <a:t> score for school quality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mid_major_flag</a:t>
            </a:r>
            <a:r>
              <a:rPr lang="en-US" b="1" dirty="0"/>
              <a:t>: Binary indicating mid-major programs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points_mid_adj</a:t>
            </a:r>
            <a:r>
              <a:rPr lang="en-US" b="1" dirty="0"/>
              <a:t>: Points docked/adjusted for mid-major status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ts_pct</a:t>
            </a:r>
            <a:r>
              <a:rPr lang="en-US" b="1" dirty="0"/>
              <a:t>: True shooting percentage (points, FGA, FTA)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turnover_to_assist</a:t>
            </a:r>
            <a:r>
              <a:rPr lang="en-US" b="1" dirty="0"/>
              <a:t>: Turnover to assist ratio (tov/(</a:t>
            </a:r>
            <a:r>
              <a:rPr lang="en-US" b="1" dirty="0" err="1"/>
              <a:t>ast</a:t>
            </a:r>
            <a:r>
              <a:rPr lang="en-US" b="1" dirty="0"/>
              <a:t> + eps)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draft_success</a:t>
            </a:r>
            <a:r>
              <a:rPr lang="en-US" b="1" dirty="0"/>
              <a:t>: Binary indicator if a player ever played pro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high_draft_pick_indicator</a:t>
            </a:r>
            <a:r>
              <a:rPr lang="en-US" b="1" dirty="0"/>
              <a:t>: Binary indicator for first-round picks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overall_pick_standardized</a:t>
            </a:r>
            <a:r>
              <a:rPr lang="en-US" b="1" dirty="0"/>
              <a:t>: Reversed draft pick so higher = better pick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year_since_draft</a:t>
            </a:r>
            <a:r>
              <a:rPr lang="en-US" b="1" dirty="0"/>
              <a:t>: Numeric (</a:t>
            </a:r>
            <a:r>
              <a:rPr lang="en-US" b="1" dirty="0" err="1"/>
              <a:t>current_year</a:t>
            </a:r>
            <a:r>
              <a:rPr lang="en-US" b="1" dirty="0"/>
              <a:t> – year)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46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D612-3628-3B64-85B8-2702DEADE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9CE98-7874-BE31-98E2-9DF1CADD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8878" y="437982"/>
            <a:ext cx="4540002" cy="499777"/>
          </a:xfrm>
        </p:spPr>
        <p:txBody>
          <a:bodyPr/>
          <a:lstStyle/>
          <a:p>
            <a:r>
              <a:rPr lang="en-US" dirty="0"/>
              <a:t>Correlation/Outliers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1E288-5B32-5156-E494-9D7FA1693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929" y="1225593"/>
            <a:ext cx="10802142" cy="340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model ranked raw performance stats highly (points, games, and assists) so they are highly correlated</a:t>
            </a:r>
          </a:p>
          <a:p>
            <a:pPr marL="569214" lvl="1"/>
            <a:r>
              <a:rPr lang="en-US" b="1" dirty="0"/>
              <a:t>Random Forest works fine with correlated predictors (can produce good predictive performances)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created variants for several performance columns and preserved NaNs for performance stats, so outlier rules were applied to non-null performance stats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Checked missingness correlations; was intentionally preserved because it can be informative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B65DE21-AB49-8C07-CA2D-E7131C1B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EA63E9BE-281D-94CC-5F9B-000C97E59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450" y="3683811"/>
            <a:ext cx="3841750" cy="303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819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246D-9026-7F46-1E6C-405151A0A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EE4C-23CE-F96A-A0BE-10EAC262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198" y="387182"/>
            <a:ext cx="5291842" cy="601377"/>
          </a:xfrm>
        </p:spPr>
        <p:txBody>
          <a:bodyPr/>
          <a:lstStyle/>
          <a:p>
            <a:r>
              <a:rPr lang="en-US" dirty="0"/>
              <a:t>Other Model Evaluations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374DF-AE0A-32EB-D3C7-9DF617EC0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5752" y="1919798"/>
            <a:ext cx="8542248" cy="4274415"/>
          </a:xfrm>
        </p:spPr>
        <p:txBody>
          <a:bodyPr>
            <a:normAutofit/>
          </a:bodyPr>
          <a:lstStyle/>
          <a:p>
            <a:r>
              <a:rPr lang="en-US" dirty="0"/>
              <a:t>KNN Model</a:t>
            </a:r>
          </a:p>
          <a:p>
            <a:r>
              <a:rPr lang="en-US" dirty="0"/>
              <a:t>Logistic Regression Model</a:t>
            </a:r>
          </a:p>
          <a:p>
            <a:r>
              <a:rPr lang="en-US" dirty="0"/>
              <a:t>SVC Model</a:t>
            </a:r>
          </a:p>
          <a:p>
            <a:r>
              <a:rPr lang="en-US" dirty="0"/>
              <a:t>Gradient Boosting Model</a:t>
            </a:r>
          </a:p>
          <a:p>
            <a:r>
              <a:rPr lang="en-US" dirty="0"/>
              <a:t>MLP Model</a:t>
            </a:r>
          </a:p>
          <a:p>
            <a:r>
              <a:rPr lang="en-US" dirty="0" err="1"/>
              <a:t>GaussianNB</a:t>
            </a:r>
            <a:r>
              <a:rPr lang="en-US" dirty="0"/>
              <a:t> Model</a:t>
            </a:r>
          </a:p>
          <a:p>
            <a:r>
              <a:rPr lang="en-US" dirty="0"/>
              <a:t>Linear Discriminant Analysis Model</a:t>
            </a:r>
          </a:p>
          <a:p>
            <a:r>
              <a:rPr lang="en-US" dirty="0"/>
              <a:t>Quadratic Discriminant Analysis Model</a:t>
            </a:r>
          </a:p>
          <a:p>
            <a:r>
              <a:rPr lang="en-US" dirty="0"/>
              <a:t>Decision Tree Model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5F5AD2F-DC47-B9A1-C0E8-9CA47EC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B7ADDA-410C-0F33-D93E-A84763AAE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563" y="1919798"/>
            <a:ext cx="4930563" cy="289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0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EFB51-2B1F-D9EF-47EF-3D0DFAB19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6793-E4A7-D855-F625-A71FA64FB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078" y="163662"/>
            <a:ext cx="5291842" cy="601377"/>
          </a:xfrm>
        </p:spPr>
        <p:txBody>
          <a:bodyPr/>
          <a:lstStyle/>
          <a:p>
            <a:r>
              <a:rPr lang="en-US" dirty="0"/>
              <a:t>Other Model Evaluations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E58DD05-23A7-DD24-A3E3-5821A3FD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835B9D-EC7B-6393-A8A3-432E56F2B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96" y="887084"/>
            <a:ext cx="5003764" cy="2892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D18F90-A260-CDBB-F8C5-47514E4B5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887084"/>
            <a:ext cx="5471124" cy="29960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2C3077-D3D9-54C4-E53F-B5612CB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418" y="4110632"/>
            <a:ext cx="5138706" cy="27473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B36D61-604D-C545-FB95-94118D0915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196" y="4076459"/>
            <a:ext cx="5436604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48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63A1A-910E-B246-77C0-4ABE2DFAE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E68D-49B0-B7DD-6397-1174CB05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078" y="163662"/>
            <a:ext cx="5291842" cy="601377"/>
          </a:xfrm>
        </p:spPr>
        <p:txBody>
          <a:bodyPr/>
          <a:lstStyle/>
          <a:p>
            <a:r>
              <a:rPr lang="en-US" dirty="0"/>
              <a:t>Other Model Evaluations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696EB49-CE64-43AA-708C-914082A7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0B7069-0D11-60FA-EB88-48D1B8902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22" y="765039"/>
            <a:ext cx="5646698" cy="31318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52398A-A052-5924-EE16-6F6C03430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22" y="3960867"/>
            <a:ext cx="5646698" cy="27606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816A52-A560-B552-0CB2-B13D5BDD6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411" y="856478"/>
            <a:ext cx="6203473" cy="26639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B8993D-6F7A-13B0-392A-562B2A29A7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095" y="3711313"/>
            <a:ext cx="6230789" cy="296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88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37442-C4C2-9644-330B-A13A1966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63C5D-FBF7-6A75-1304-D8F7AB582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638" y="-136215"/>
            <a:ext cx="7288282" cy="1485232"/>
          </a:xfrm>
        </p:spPr>
        <p:txBody>
          <a:bodyPr/>
          <a:lstStyle/>
          <a:p>
            <a:r>
              <a:rPr lang="en-US" dirty="0"/>
              <a:t>Final List (random forest model)</a:t>
            </a:r>
          </a:p>
        </p:txBody>
      </p:sp>
      <p:pic>
        <p:nvPicPr>
          <p:cNvPr id="5" name="Content Placeholder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816D0903-B655-CABD-245B-6D6B61E395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65899" y="1349017"/>
            <a:ext cx="6414545" cy="4486958"/>
          </a:xfr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95DC48A-11F7-45AE-CC10-E2ABCA60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93076-8CDA-78C0-DE0A-5553E77EEABB}"/>
              </a:ext>
            </a:extLst>
          </p:cNvPr>
          <p:cNvSpPr txBox="1"/>
          <p:nvPr/>
        </p:nvSpPr>
        <p:spPr>
          <a:xfrm>
            <a:off x="120115" y="1737360"/>
            <a:ext cx="53543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We chose Random Forest because it produced the best cross-validation among the candidates</a:t>
            </a:r>
          </a:p>
          <a:p>
            <a:r>
              <a:rPr lang="en-US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Random Forest reduces overfitting giving it a more stable performance against different splits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It handled our categorical columns and our numerical features without heavily inducing transformations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It provided the best feature-importance scores</a:t>
            </a:r>
          </a:p>
        </p:txBody>
      </p:sp>
    </p:spTree>
    <p:extLst>
      <p:ext uri="{BB962C8B-B14F-4D97-AF65-F5344CB8AC3E}">
        <p14:creationId xmlns:p14="http://schemas.microsoft.com/office/powerpoint/2010/main" val="407100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5750" y="314960"/>
            <a:ext cx="5220970" cy="1137919"/>
          </a:xfrm>
        </p:spPr>
        <p:txBody>
          <a:bodyPr/>
          <a:lstStyle/>
          <a:p>
            <a:r>
              <a:rPr lang="en-US" dirty="0"/>
              <a:t>Comparison of each Player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53DB8F-8E1B-168D-5153-8EB94F17BCFC}"/>
              </a:ext>
            </a:extLst>
          </p:cNvPr>
          <p:cNvSpPr txBox="1">
            <a:spLocks/>
          </p:cNvSpPr>
          <p:nvPr/>
        </p:nvSpPr>
        <p:spPr>
          <a:xfrm>
            <a:off x="7396480" y="1651239"/>
            <a:ext cx="4986020" cy="540318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Paige Bueckers</a:t>
            </a:r>
          </a:p>
          <a:p>
            <a:r>
              <a:rPr lang="en-US" sz="2400" dirty="0">
                <a:solidFill>
                  <a:schemeClr val="bg1"/>
                </a:solidFill>
              </a:rPr>
              <a:t>Georgia Amoore</a:t>
            </a:r>
          </a:p>
          <a:p>
            <a:r>
              <a:rPr lang="en-US" sz="2400" dirty="0">
                <a:solidFill>
                  <a:schemeClr val="bg1"/>
                </a:solidFill>
              </a:rPr>
              <a:t>Lucy Olsen</a:t>
            </a:r>
          </a:p>
          <a:p>
            <a:r>
              <a:rPr lang="en-US" sz="2400" dirty="0">
                <a:solidFill>
                  <a:schemeClr val="bg1"/>
                </a:solidFill>
              </a:rPr>
              <a:t>Aneesah Morrow</a:t>
            </a:r>
          </a:p>
          <a:p>
            <a:r>
              <a:rPr lang="en-US" sz="2400" dirty="0">
                <a:solidFill>
                  <a:schemeClr val="bg1"/>
                </a:solidFill>
              </a:rPr>
              <a:t>Juste </a:t>
            </a:r>
            <a:r>
              <a:rPr lang="en-US" sz="2400" dirty="0" err="1">
                <a:solidFill>
                  <a:schemeClr val="bg1"/>
                </a:solidFill>
              </a:rPr>
              <a:t>Jocyte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Megan McConnell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Madison Conner</a:t>
            </a:r>
          </a:p>
          <a:p>
            <a:r>
              <a:rPr lang="en-US" sz="2400" dirty="0">
                <a:solidFill>
                  <a:schemeClr val="bg1"/>
                </a:solidFill>
              </a:rPr>
              <a:t>Kiki </a:t>
            </a:r>
            <a:r>
              <a:rPr lang="en-US" sz="2400" dirty="0" err="1">
                <a:solidFill>
                  <a:schemeClr val="bg1"/>
                </a:solidFill>
              </a:rPr>
              <a:t>Iriafen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Sarah Ashlee Barker</a:t>
            </a:r>
          </a:p>
          <a:p>
            <a:r>
              <a:rPr lang="en-US" sz="2400" dirty="0">
                <a:solidFill>
                  <a:schemeClr val="bg1"/>
                </a:solidFill>
              </a:rPr>
              <a:t>Sania Feagin</a:t>
            </a:r>
          </a:p>
          <a:p>
            <a:r>
              <a:rPr lang="en-US" sz="2400" dirty="0">
                <a:solidFill>
                  <a:schemeClr val="bg1"/>
                </a:solidFill>
              </a:rPr>
              <a:t>Emma </a:t>
            </a:r>
            <a:r>
              <a:rPr lang="en-US" sz="2400" dirty="0" err="1">
                <a:solidFill>
                  <a:schemeClr val="bg1"/>
                </a:solidFill>
              </a:rPr>
              <a:t>Cechova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Serena Sundell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99BF-5FF9-408B-7258-46E6E65F4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958" y="304800"/>
            <a:ext cx="3524002" cy="499777"/>
          </a:xfrm>
        </p:spPr>
        <p:txBody>
          <a:bodyPr/>
          <a:lstStyle/>
          <a:p>
            <a:r>
              <a:rPr lang="en-US" dirty="0"/>
              <a:t>Paige Bueckers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4C2E8-FF38-B1D5-916A-92024D57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CC54568-2DDF-9093-8626-0FB73FB0F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05006" y="2447925"/>
            <a:ext cx="10231554" cy="340705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#1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#1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College: UCONN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Great offensive player (19.8 PPG) &amp; (53.4 FG%)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and went to the top WBB school (UCONN)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Cons: Age/Past Injury History (23 yrs.)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Dallas Wings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Only freshman in WBB history to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win National Player of the Year and one of the biggest names in WBB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2050" name="Picture 2" descr="Paige Bueckers">
            <a:extLst>
              <a:ext uri="{FF2B5EF4-FFF2-40B4-BE49-F238E27FC236}">
                <a16:creationId xmlns:a16="http://schemas.microsoft.com/office/drawing/2014/main" id="{7E9C2A91-A46F-8803-89C2-24BD34694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69" y="2729576"/>
            <a:ext cx="2565437" cy="256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Paige Bueckers's Net Worth? NIL ...">
            <a:extLst>
              <a:ext uri="{FF2B5EF4-FFF2-40B4-BE49-F238E27FC236}">
                <a16:creationId xmlns:a16="http://schemas.microsoft.com/office/drawing/2014/main" id="{CA9FD05F-6110-1482-6B8A-E80C931D4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960" y="3048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810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AB84-DC86-2057-A3C0-B46F31BB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4F9A-4F75-3CB8-DC08-43957F058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478" y="1336251"/>
            <a:ext cx="3747522" cy="479457"/>
          </a:xfrm>
        </p:spPr>
        <p:txBody>
          <a:bodyPr/>
          <a:lstStyle/>
          <a:p>
            <a:r>
              <a:rPr lang="en-US" dirty="0"/>
              <a:t>Georgia Amoore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244F2C-AB3D-0658-143B-B6731A8F5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58708" y="2612538"/>
            <a:ext cx="7288212" cy="3407051"/>
          </a:xfrm>
        </p:spPr>
        <p:txBody>
          <a:bodyPr>
            <a:normAutofit fontScale="925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#2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#6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College: Kentucky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Pro: High basketball IQ (5.5 APG) and dynamic offense (15.7 PPG)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Con: Low height (5’6)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Seattle Storm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Actual Pick: Dominique </a:t>
            </a:r>
            <a:r>
              <a:rPr lang="en-US" dirty="0" err="1"/>
              <a:t>Malonga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Seattle needed a big and </a:t>
            </a:r>
            <a:r>
              <a:rPr lang="en-US" dirty="0" err="1"/>
              <a:t>Malonga</a:t>
            </a:r>
            <a:r>
              <a:rPr lang="en-US" dirty="0"/>
              <a:t> is 6’7, Seattle has the oldest players and </a:t>
            </a:r>
            <a:r>
              <a:rPr lang="en-US" dirty="0" err="1"/>
              <a:t>Malonga</a:t>
            </a:r>
            <a:r>
              <a:rPr lang="en-US" dirty="0"/>
              <a:t> is only 19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4ABAD-321A-48FC-EE15-CAC2F635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26" name="Picture 2" descr="Georgia Amoore - Women's Basketball ...">
            <a:extLst>
              <a:ext uri="{FF2B5EF4-FFF2-40B4-BE49-F238E27FC236}">
                <a16:creationId xmlns:a16="http://schemas.microsoft.com/office/drawing/2014/main" id="{8B52EEE0-9DE8-2F1A-3176-44333201C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2948501"/>
            <a:ext cx="1799439" cy="270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eorgia gearing up for WNBA draft ...">
            <a:extLst>
              <a:ext uri="{FF2B5EF4-FFF2-40B4-BE49-F238E27FC236}">
                <a16:creationId xmlns:a16="http://schemas.microsoft.com/office/drawing/2014/main" id="{649AAA4C-0C34-93EB-5FA7-06DCBDCB1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225" y="704441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786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49917-AC51-D617-F535-EB4459DD2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49CE-B479-92B8-CDEE-3CBFC692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878" y="1051694"/>
            <a:ext cx="2325122" cy="530257"/>
          </a:xfrm>
        </p:spPr>
        <p:txBody>
          <a:bodyPr/>
          <a:lstStyle/>
          <a:p>
            <a:r>
              <a:rPr lang="en-US" dirty="0"/>
              <a:t>Lucy </a:t>
            </a:r>
            <a:r>
              <a:rPr lang="en-US" dirty="0" err="1"/>
              <a:t>olsen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AD1C52-98D0-5772-93B5-2E233F6BD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43334" y="1868998"/>
            <a:ext cx="7545546" cy="3407051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#3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#23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Actual Pick: Sonia Citron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College: Iowa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Strong midrange game (43.6 FG%) and great court vision (5.1 assists)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Cons: High turnover rate (3.1)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Washington Mystics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Transferred her last year to Iowa from Villanova (low ranked team), Iowa fell short of NCAA tournament expectations, and Mystics needed a 3-point shooter (Sonia Citron)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E7E21-5BF6-2C11-1C9E-2314D9D77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074" name="Picture 2" descr="Lucy Olsen - Iowa Hawkeyes Guard - ESPN">
            <a:extLst>
              <a:ext uri="{FF2B5EF4-FFF2-40B4-BE49-F238E27FC236}">
                <a16:creationId xmlns:a16="http://schemas.microsoft.com/office/drawing/2014/main" id="{F13FDEE5-178B-F266-F624-BA5DF53D6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066" y="446598"/>
            <a:ext cx="2514600" cy="206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ucy Olsen - WNBA Wiki">
            <a:extLst>
              <a:ext uri="{FF2B5EF4-FFF2-40B4-BE49-F238E27FC236}">
                <a16:creationId xmlns:a16="http://schemas.microsoft.com/office/drawing/2014/main" id="{EE9988E4-29B6-D0DF-40BC-05BDE2CA9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" y="2113598"/>
            <a:ext cx="18669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807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D1CD-8CBD-3E74-32E6-D4CBE9298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CD83-6ED3-B721-CE15-5C9059869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478" y="1083142"/>
            <a:ext cx="3767842" cy="652177"/>
          </a:xfrm>
        </p:spPr>
        <p:txBody>
          <a:bodyPr/>
          <a:lstStyle/>
          <a:p>
            <a:r>
              <a:rPr lang="en-US" dirty="0"/>
              <a:t>Aneesah morrow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88D73E-C558-F3C8-853C-EA00E6212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56548" y="2041718"/>
            <a:ext cx="7288212" cy="340705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#4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#7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Actual Pick: Kiki </a:t>
            </a:r>
            <a:r>
              <a:rPr lang="en-US" dirty="0" err="1"/>
              <a:t>Iriafen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College: LSU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Double-Double machine (20.6 PPG, 12.4 RPG)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 Below average height for her position (6’1) and low 3-FG% (37.20%)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Washington Mystics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Mystics needed a taller forward and a better 3-point shooter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5419F-7118-C342-40C5-D6B845217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098" name="Picture 2" descr="Aneesah Morrow - LSU Tigers Forward - ESPN">
            <a:extLst>
              <a:ext uri="{FF2B5EF4-FFF2-40B4-BE49-F238E27FC236}">
                <a16:creationId xmlns:a16="http://schemas.microsoft.com/office/drawing/2014/main" id="{1F8022FC-3F42-DF51-850C-967A060F0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004" y="499592"/>
            <a:ext cx="25146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neesah Morrow - Wikipedia">
            <a:extLst>
              <a:ext uri="{FF2B5EF4-FFF2-40B4-BE49-F238E27FC236}">
                <a16:creationId xmlns:a16="http://schemas.microsoft.com/office/drawing/2014/main" id="{588ADE11-5256-0C56-1B16-2EE054631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57" y="2182990"/>
            <a:ext cx="1600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174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DBF82-D7A5-EF6B-0E36-EFF60A82B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80FE-F5E8-D50A-7003-595BCBF07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158" y="1107440"/>
            <a:ext cx="2650242" cy="479457"/>
          </a:xfrm>
        </p:spPr>
        <p:txBody>
          <a:bodyPr/>
          <a:lstStyle/>
          <a:p>
            <a:r>
              <a:rPr lang="en-US" dirty="0"/>
              <a:t>Juste </a:t>
            </a:r>
            <a:r>
              <a:rPr lang="en-US" dirty="0" err="1"/>
              <a:t>joctye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54AA9A-C576-50EB-226A-3DF09490F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5268" y="1725474"/>
            <a:ext cx="7288212" cy="340705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#5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#5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Former: Lithuania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Smooth shooting (17 PPG, 42.9 FG%)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Cons: Small sample size cause of international play (4 games)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Golden State Valkyries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Golden State was an expansion team, so they wanted a young player (20 yrs), they also had many international players on their roster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7B89E-65FC-A8C1-BECE-F18852C9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122" name="Picture 2" descr="Juste Jocyte, Basketball Player ...">
            <a:extLst>
              <a:ext uri="{FF2B5EF4-FFF2-40B4-BE49-F238E27FC236}">
                <a16:creationId xmlns:a16="http://schemas.microsoft.com/office/drawing/2014/main" id="{4A3E9849-F3A7-D7E3-F9CE-B881B7ABF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86" y="1930718"/>
            <a:ext cx="2488882" cy="248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Who is Juste Jocyte? Everything to know ...">
            <a:extLst>
              <a:ext uri="{FF2B5EF4-FFF2-40B4-BE49-F238E27FC236}">
                <a16:creationId xmlns:a16="http://schemas.microsoft.com/office/drawing/2014/main" id="{2DF49EFC-F81B-C025-DB8E-852522051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198" y="27560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969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71F2-01BE-9030-3376-A0CC8A21B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D3D06-09B2-717E-C457-5E7A079C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732" y="568625"/>
            <a:ext cx="4032002" cy="672497"/>
          </a:xfrm>
        </p:spPr>
        <p:txBody>
          <a:bodyPr/>
          <a:lstStyle/>
          <a:p>
            <a:r>
              <a:rPr lang="en-US" dirty="0"/>
              <a:t>Megan </a:t>
            </a:r>
            <a:r>
              <a:rPr lang="en-US" dirty="0" err="1"/>
              <a:t>mcConnell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5CB641-EFD3-D51C-ADB4-A3A6F3AEF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77950" y="1725474"/>
            <a:ext cx="7288212" cy="340705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#6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NOT DRAFTED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Actual Pick: Georgia Amoore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College: Duquesne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Great overall player (18.4 PPG, 5 APG, and 7.2 RPG)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Cons: Went to a mid major school (Duquesne)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Washington Mystics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Had great stats but just didn’t get national attention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B4891-00DA-C5FD-933F-1A89AA46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170" name="Picture 2" descr="Megan McConnell - Women's Basketball ...">
            <a:extLst>
              <a:ext uri="{FF2B5EF4-FFF2-40B4-BE49-F238E27FC236}">
                <a16:creationId xmlns:a16="http://schemas.microsoft.com/office/drawing/2014/main" id="{238AC887-27AD-7162-C353-36DE1CC92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825" y="369191"/>
            <a:ext cx="191452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megan (@megg_mcconnell4) / Posts / X">
            <a:extLst>
              <a:ext uri="{FF2B5EF4-FFF2-40B4-BE49-F238E27FC236}">
                <a16:creationId xmlns:a16="http://schemas.microsoft.com/office/drawing/2014/main" id="{500462E2-AC1D-B860-8447-DD48C278D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" y="1888034"/>
            <a:ext cx="2270443" cy="256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001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32323-8A87-3A0A-022E-3D76565B2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6B229-6D7B-59C8-8CCC-9C0ED1930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718" y="416560"/>
            <a:ext cx="3513842" cy="662583"/>
          </a:xfrm>
        </p:spPr>
        <p:txBody>
          <a:bodyPr/>
          <a:lstStyle/>
          <a:p>
            <a:r>
              <a:rPr lang="en-US" dirty="0"/>
              <a:t>Madison conner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520596-4DDA-6560-0F37-7BE96BF0F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26068" y="1442278"/>
            <a:ext cx="7288212" cy="340705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#7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#29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Actual Pick: Aneesah Morrow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College: TCU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Good shooting abilities (44.6 FG% and 44.9 3-FG%)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Cons: Wasn’t the star of her team (10.6 PPG and 2.7 RPG)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Connecticut Sun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The Mystics needed a true point guard and Conner is a shooting guard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8F1C3-9AC5-6AFF-9659-CA8EED03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146" name="Picture 2" descr="Madison Conner (@madisonconner.2 ...">
            <a:extLst>
              <a:ext uri="{FF2B5EF4-FFF2-40B4-BE49-F238E27FC236}">
                <a16:creationId xmlns:a16="http://schemas.microsoft.com/office/drawing/2014/main" id="{590413FF-5E98-A334-1EFE-0F6778297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69" y="1926903"/>
            <a:ext cx="2437799" cy="243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Madison Conner - TCU Horned Frogs Guard ...">
            <a:extLst>
              <a:ext uri="{FF2B5EF4-FFF2-40B4-BE49-F238E27FC236}">
                <a16:creationId xmlns:a16="http://schemas.microsoft.com/office/drawing/2014/main" id="{503E59DA-8019-B034-77E8-2016A1E11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840" y="342225"/>
            <a:ext cx="2505075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112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C084-0DBD-1068-5328-4ED2A847F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3832-5CA9-1AE4-8F59-747B7764F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2620" y="-244381"/>
            <a:ext cx="7288282" cy="2121177"/>
          </a:xfrm>
        </p:spPr>
        <p:txBody>
          <a:bodyPr/>
          <a:lstStyle/>
          <a:p>
            <a:r>
              <a:rPr lang="en-US" dirty="0"/>
              <a:t>Kiki </a:t>
            </a:r>
            <a:r>
              <a:rPr lang="en-US" dirty="0" err="1"/>
              <a:t>iriafen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E8F4154-C06A-FF54-9AF4-D02BA530F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24610" y="2153478"/>
            <a:ext cx="7288212" cy="340705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#8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#4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Actual Pick: Saniya Rivers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College: USC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Strong rebounding and scoring ability (18.0 PPG and 8.4 RPG)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Cons: A defensive liability against taller forwards/centers (6’3)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Connecticut Suns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Transferred from Stanford where she didn’t get much minutes to USC where she was a starter and playing upward 20 minutes a game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BB7E6-F6E9-0B71-64F4-72FD25B2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194" name="Picture 2" descr="Divine Timing!!✨ #year4">
            <a:extLst>
              <a:ext uri="{FF2B5EF4-FFF2-40B4-BE49-F238E27FC236}">
                <a16:creationId xmlns:a16="http://schemas.microsoft.com/office/drawing/2014/main" id="{AF8FB6A4-8C22-73A2-2254-CA75EF25E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52" y="2281409"/>
            <a:ext cx="2279378" cy="284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Kiki Iriafen - USC Trojans Forward - ESPN">
            <a:extLst>
              <a:ext uri="{FF2B5EF4-FFF2-40B4-BE49-F238E27FC236}">
                <a16:creationId xmlns:a16="http://schemas.microsoft.com/office/drawing/2014/main" id="{6C04340B-AEFB-3CD8-2F76-649558E6A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78" y="462134"/>
            <a:ext cx="2505075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618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417AE-55BC-6991-EAB9-0F168CB4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4452-52D8-E845-3B22-51DAA74E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918" y="0"/>
            <a:ext cx="7288282" cy="2121177"/>
          </a:xfrm>
        </p:spPr>
        <p:txBody>
          <a:bodyPr/>
          <a:lstStyle/>
          <a:p>
            <a:r>
              <a:rPr lang="en-US" dirty="0"/>
              <a:t>Sarah </a:t>
            </a:r>
            <a:r>
              <a:rPr lang="en-US" dirty="0" err="1"/>
              <a:t>ashlee</a:t>
            </a:r>
            <a:r>
              <a:rPr lang="en-US" dirty="0"/>
              <a:t> barker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A2B365D-339C-37FA-AEB3-39BD2967A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1894" y="2275398"/>
            <a:ext cx="7288212" cy="340705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#9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#9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College: Alabama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Strong scoring ability (18.2 PPG)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Cons: High turnover rate (3.3)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Los Angeles Sparks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Wasn’t on any national level but had a breakout performance during the sweet sixteen where she scored 45 points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62812-8D0C-6FF4-5F86-F3D8888F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9218" name="Picture 2" descr="Sarah Ashlee Barker">
            <a:extLst>
              <a:ext uri="{FF2B5EF4-FFF2-40B4-BE49-F238E27FC236}">
                <a16:creationId xmlns:a16="http://schemas.microsoft.com/office/drawing/2014/main" id="{23C3488E-87C4-430A-3045-A2E960690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107" y="33613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Sarah Ashlee Barker - Women's ...">
            <a:extLst>
              <a:ext uri="{FF2B5EF4-FFF2-40B4-BE49-F238E27FC236}">
                <a16:creationId xmlns:a16="http://schemas.microsoft.com/office/drawing/2014/main" id="{E0DABCEF-93B2-187E-06FE-6BE7EFB3A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98" y="2479258"/>
            <a:ext cx="1714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53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7F384-3D8D-BE2B-E4D2-C2482B1D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B480-93C6-E9E9-0928-BDB48D8C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844" y="-372718"/>
            <a:ext cx="7288282" cy="2121177"/>
          </a:xfrm>
        </p:spPr>
        <p:txBody>
          <a:bodyPr/>
          <a:lstStyle/>
          <a:p>
            <a:r>
              <a:rPr lang="en-US" dirty="0"/>
              <a:t>Sania </a:t>
            </a:r>
            <a:r>
              <a:rPr lang="en-US" dirty="0" err="1"/>
              <a:t>feagin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BCFC0D-F363-3E2E-F3E8-71C77836B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85138" y="2115198"/>
            <a:ext cx="7288212" cy="340705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10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#21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Actual Pick: Ajsa </a:t>
            </a:r>
            <a:r>
              <a:rPr lang="en-US" dirty="0" err="1"/>
              <a:t>Sivka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College: South Carolina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Strong shot-making ability (60.1 FG%)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Cons: Smaller big (6’3), low minutes (19.8)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Chicago Sky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Is a 2x National Champion, Chicago needed a guard already have 2 strong </a:t>
            </a:r>
            <a:r>
              <a:rPr lang="en-US" dirty="0" err="1"/>
              <a:t>bigs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A69F8-3BD7-71CE-D84A-65591840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0242" name="Picture 2" descr="Sania Feagin">
            <a:extLst>
              <a:ext uri="{FF2B5EF4-FFF2-40B4-BE49-F238E27FC236}">
                <a16:creationId xmlns:a16="http://schemas.microsoft.com/office/drawing/2014/main" id="{063C2B28-7088-1090-7517-BF5B1EE49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659" y="26836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Sania Feagin | Sometimes I Hoop Podcast ...">
            <a:extLst>
              <a:ext uri="{FF2B5EF4-FFF2-40B4-BE49-F238E27FC236}">
                <a16:creationId xmlns:a16="http://schemas.microsoft.com/office/drawing/2014/main" id="{6EDB3992-8014-073C-1460-BCEE339D4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56" y="2411485"/>
            <a:ext cx="2600782" cy="2600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696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7987-C775-9660-6C4F-5C285DDB6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B580-FE9F-B898-CA40-60C15BBA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078" y="894080"/>
            <a:ext cx="3381762" cy="692817"/>
          </a:xfrm>
        </p:spPr>
        <p:txBody>
          <a:bodyPr/>
          <a:lstStyle/>
          <a:p>
            <a:r>
              <a:rPr lang="en-US" dirty="0"/>
              <a:t>Emma </a:t>
            </a:r>
            <a:r>
              <a:rPr lang="en-US" dirty="0" err="1"/>
              <a:t>cechova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AF3030-3244-7605-29A4-D2DB24D94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78914" y="2416565"/>
            <a:ext cx="7288212" cy="340705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#11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NOT DRAFTED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Actual Pick: Hailey Van Lith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Former: Czech Republic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Strong shot making abilities (58.50 FG%)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Cons: Small sample size (6 games)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Chicago Sky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Hard to know haw an international players skills will transfer over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CFE24-8319-CC5F-AC5A-BF770557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1266" name="Picture 2" descr="Emma Cechova, Basketball Player ...">
            <a:extLst>
              <a:ext uri="{FF2B5EF4-FFF2-40B4-BE49-F238E27FC236}">
                <a16:creationId xmlns:a16="http://schemas.microsoft.com/office/drawing/2014/main" id="{ACCE13FF-1276-7B53-3ACA-3283D8355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840" y="42389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Emma Cechova, Basketball Player ...">
            <a:extLst>
              <a:ext uri="{FF2B5EF4-FFF2-40B4-BE49-F238E27FC236}">
                <a16:creationId xmlns:a16="http://schemas.microsoft.com/office/drawing/2014/main" id="{97A0B0C8-95D8-3D99-1383-69CC4C213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59" y="2762198"/>
            <a:ext cx="2523141" cy="2523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512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AD470-EEA6-5748-E614-BFF05D42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3BBD4-3605-DF99-EBB2-B392A796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844" y="-372718"/>
            <a:ext cx="7288282" cy="2121177"/>
          </a:xfrm>
        </p:spPr>
        <p:txBody>
          <a:bodyPr/>
          <a:lstStyle/>
          <a:p>
            <a:r>
              <a:rPr lang="en-US" dirty="0"/>
              <a:t>Serena Sundell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05F91F-D759-1FB6-82FE-36C9AB4D4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8654" y="2803097"/>
            <a:ext cx="7288212" cy="340705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Our Prediction: #12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Real Draft: #28 Pick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Actual Pick: </a:t>
            </a:r>
            <a:r>
              <a:rPr lang="en-US" dirty="0" err="1"/>
              <a:t>Aziaha</a:t>
            </a:r>
            <a:r>
              <a:rPr lang="en-US" dirty="0"/>
              <a:t> James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College: Kansas State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Pros: Strong assist numbers (7.3 APG), high FG% (50.10 FG%)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Cons: Above average turnovers (2.9), Not a great 3-point shooter (32.oo% 3-FG%)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Team that had the Pick: Dallas Wings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Non-Stat Reasons: Her team did underperform in the NCAA tournament, but she was the NCAA leading assist leader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F9982-BBA8-8379-DB8E-CDE4E07A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2294" name="Picture 6" descr="Serena Sundell (@serena_sundell ...">
            <a:extLst>
              <a:ext uri="{FF2B5EF4-FFF2-40B4-BE49-F238E27FC236}">
                <a16:creationId xmlns:a16="http://schemas.microsoft.com/office/drawing/2014/main" id="{8F28326A-20D8-002B-E753-C983D3E82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51" y="3164970"/>
            <a:ext cx="2683303" cy="268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Serena Sundell Biography - ESPN">
            <a:extLst>
              <a:ext uri="{FF2B5EF4-FFF2-40B4-BE49-F238E27FC236}">
                <a16:creationId xmlns:a16="http://schemas.microsoft.com/office/drawing/2014/main" id="{9AF18F31-F888-1937-A683-782B8389B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985" y="647852"/>
            <a:ext cx="2505075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118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D117A-0B3F-6FAE-3E2E-E290CA8EB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937EF-701B-4711-7750-A12E1DF1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318" y="843280"/>
            <a:ext cx="5942082" cy="804577"/>
          </a:xfrm>
        </p:spPr>
        <p:txBody>
          <a:bodyPr/>
          <a:lstStyle/>
          <a:p>
            <a:r>
              <a:rPr lang="en-US" dirty="0"/>
              <a:t>Complications/Resolutions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D221D-E497-A444-CB6A-F5192ABAF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1748" y="2234758"/>
            <a:ext cx="8106092" cy="4121591"/>
          </a:xfrm>
        </p:spPr>
        <p:txBody>
          <a:bodyPr>
            <a:normAutofit/>
          </a:bodyPr>
          <a:lstStyle/>
          <a:p>
            <a:r>
              <a:rPr lang="en-US" dirty="0"/>
              <a:t>Complication: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kept getting different lists when we ran the final model</a:t>
            </a:r>
          </a:p>
          <a:p>
            <a:r>
              <a:rPr lang="en-US" dirty="0"/>
              <a:t>Resolution: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didn’t have a set seed but once we set it, we got the same lists</a:t>
            </a:r>
          </a:p>
          <a:p>
            <a:r>
              <a:rPr lang="en-US" dirty="0"/>
              <a:t>Complication: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weren’t getting any final lists we liked</a:t>
            </a:r>
          </a:p>
          <a:p>
            <a:r>
              <a:rPr lang="en-US" dirty="0"/>
              <a:t>Resolution: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added more data to make the stats on each player more clear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ED414EF-BDDF-D703-860C-4EB033D29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74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Andriana Slisko</a:t>
            </a:r>
          </a:p>
          <a:p>
            <a:r>
              <a:rPr lang="en-US" dirty="0"/>
              <a:t>Gabriella Vallar</a:t>
            </a:r>
          </a:p>
          <a:p>
            <a:r>
              <a:rPr lang="en-US" dirty="0"/>
              <a:t>Emmanuela Fleurant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{32B7C878-8DA6-4CBB-81D4-F7C8E41F867A}TF7521aafa-c748-4c40-a498-ba511be234dc5b1b6097_win32-5039330bb2f3</Template>
  <TotalTime>777</TotalTime>
  <Words>1987</Words>
  <Application>Microsoft Office PowerPoint</Application>
  <PresentationFormat>Widescreen</PresentationFormat>
  <Paragraphs>380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Tenorite</vt:lpstr>
      <vt:lpstr>Wingdings</vt:lpstr>
      <vt:lpstr>Custom</vt:lpstr>
      <vt:lpstr>WNBA Draft prediction model</vt:lpstr>
      <vt:lpstr>AGENDA</vt:lpstr>
      <vt:lpstr>Motivation/Problem</vt:lpstr>
      <vt:lpstr>Business Aspect</vt:lpstr>
      <vt:lpstr>Column Descriptions</vt:lpstr>
      <vt:lpstr>Column Descriptions</vt:lpstr>
      <vt:lpstr>Missing Data</vt:lpstr>
      <vt:lpstr>Key Features/Feature Engineering</vt:lpstr>
      <vt:lpstr>Correlation/Outliers</vt:lpstr>
      <vt:lpstr>Other Model Evaluations</vt:lpstr>
      <vt:lpstr>Other Model Evaluations</vt:lpstr>
      <vt:lpstr>Other Model Evaluations</vt:lpstr>
      <vt:lpstr>Final List (random forest model)</vt:lpstr>
      <vt:lpstr>Comparison of each Player</vt:lpstr>
      <vt:lpstr>Paige Bueckers</vt:lpstr>
      <vt:lpstr>Georgia Amoore</vt:lpstr>
      <vt:lpstr>Lucy olsen</vt:lpstr>
      <vt:lpstr>Aneesah morrow</vt:lpstr>
      <vt:lpstr>Juste joctye</vt:lpstr>
      <vt:lpstr>Megan mcConnell</vt:lpstr>
      <vt:lpstr>Madison conner</vt:lpstr>
      <vt:lpstr>Kiki iriafen</vt:lpstr>
      <vt:lpstr>Sarah ashlee barker</vt:lpstr>
      <vt:lpstr>Sania feagin</vt:lpstr>
      <vt:lpstr>Emma cechova</vt:lpstr>
      <vt:lpstr>Serena Sundell</vt:lpstr>
      <vt:lpstr>Complications/Resolutions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Gabriella Vallar</dc:creator>
  <cp:lastModifiedBy>Gabriella Vallar</cp:lastModifiedBy>
  <cp:revision>1</cp:revision>
  <dcterms:created xsi:type="dcterms:W3CDTF">2025-11-27T18:25:21Z</dcterms:created>
  <dcterms:modified xsi:type="dcterms:W3CDTF">2025-11-28T07:22:55Z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